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AI PRACTICE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Valuation RAG Chatbot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Document Intelligence Pipeline on Google Cloud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228600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Ganesh Krishna Lakshmi Setty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Engineer Candidate  |  Cloud AI Practice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0897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5486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0332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941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1188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 RAG fails for real estate documents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680960" y="1051560"/>
            <a:ext cx="77724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0" y="1051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536192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536192"/>
            <a:ext cx="54864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65506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0200" y="15636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600200" y="18105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7-service GCP pipeline with custom document intelligence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680960" y="1673352"/>
            <a:ext cx="777240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5"/>
          <p:cNvSpPr/>
          <p:nvPr/>
        </p:nvSpPr>
        <p:spPr>
          <a:xfrm>
            <a:off x="7680960" y="16733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57200" y="2157984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7200" y="2157984"/>
            <a:ext cx="54864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2" name="Text 18"/>
          <p:cNvSpPr/>
          <p:nvPr/>
        </p:nvSpPr>
        <p:spPr>
          <a:xfrm>
            <a:off x="64008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276856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00200" y="21854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600200" y="243230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processing, hybrid search, and code walkthrough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680960" y="2295144"/>
            <a:ext cx="777240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7" name="Text 22"/>
          <p:cNvSpPr/>
          <p:nvPr/>
        </p:nvSpPr>
        <p:spPr>
          <a:xfrm>
            <a:off x="7680960" y="22951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57200" y="2779776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57200" y="2779776"/>
            <a:ext cx="54864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0" name="Text 25"/>
          <p:cNvSpPr/>
          <p:nvPr/>
        </p:nvSpPr>
        <p:spPr>
          <a:xfrm>
            <a:off x="64008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898648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600200" y="2807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1600200" y="30540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trade-offs and hallucination prevention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7680960" y="2916936"/>
            <a:ext cx="77724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5" name="Text 29"/>
          <p:cNvSpPr/>
          <p:nvPr/>
        </p:nvSpPr>
        <p:spPr>
          <a:xfrm>
            <a:off x="7680960" y="2916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457200" y="3401568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57200" y="3401568"/>
            <a:ext cx="54864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8" name="Text 32"/>
          <p:cNvSpPr/>
          <p:nvPr/>
        </p:nvSpPr>
        <p:spPr>
          <a:xfrm>
            <a:off x="64008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520440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600200" y="3429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1600200" y="36758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chatbot queries on Cloud Run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7680960" y="3538728"/>
            <a:ext cx="777240" cy="27432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3" name="Text 36"/>
          <p:cNvSpPr/>
          <p:nvPr/>
        </p:nvSpPr>
        <p:spPr>
          <a:xfrm>
            <a:off x="7680960" y="3538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457200" y="4023360"/>
            <a:ext cx="54864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6" name="Text 39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4142232"/>
            <a:ext cx="274320" cy="27432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600200" y="4050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49" name="Text 41"/>
          <p:cNvSpPr/>
          <p:nvPr/>
        </p:nvSpPr>
        <p:spPr>
          <a:xfrm>
            <a:off x="1600200" y="4297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the customer and for Google Cloud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7680960" y="4160520"/>
            <a:ext cx="77724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1" name="Text 43"/>
          <p:cNvSpPr/>
          <p:nvPr/>
        </p:nvSpPr>
        <p:spPr>
          <a:xfrm>
            <a:off x="7680960" y="4160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3" name="Text 45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presentation  +  15 minutes Q&amp;A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CUSTOMER'S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097280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51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real estate firm needs a property valuation chatbot, but their proprietary data is trapped in siloed, unstructured PDF formats that standard RAG tools can't parse.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377440"/>
            <a:ext cx="2606040" cy="54864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06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578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PDFs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94360" y="3017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Appraisals, listings, market reports with tables, forms, and mixed layouts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91840" y="237744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91840" y="2377440"/>
            <a:ext cx="2606040" cy="54864"/>
          </a:xfrm>
          <a:prstGeom prst="rect">
            <a:avLst/>
          </a:prstGeom>
          <a:solidFill>
            <a:srgbClr val="FF6F0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6060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94760" y="2578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Table Data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429000" y="3017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tools like LangChain's PyPDFLoader dump raw text, destroying table structure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26480" y="237744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26480" y="2377440"/>
            <a:ext cx="2606040" cy="54864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6060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29400" y="2578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 Metadata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263640" y="3017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Valuations, comps, bedrooms, prices become unsearchable text blobs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4" name="Text 18"/>
          <p:cNvSpPr/>
          <p:nvPr/>
        </p:nvSpPr>
        <p:spPr>
          <a:xfrm>
            <a:off x="731520" y="4251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property valuations take hours. Appraisers search through PDFs by hand, missing comparable sales data and producing inconsistent reports.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STANDARD RAG FAILS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Approach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 dumps raw text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structure is completely lost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property-specific metadata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8036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chunking breaks context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9184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0120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handle scanned documents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703320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60120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comparable sales extraction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3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Custom Pipeline</a:t>
            </a:r>
            <a:endParaRPr lang="en-US" sz="15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645920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5780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extracts with OCR + table detection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057400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5780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parsers per document type</a:t>
            </a:r>
            <a:endParaRPr lang="en-US" sz="12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468880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257800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metadata (beds, price, area, comps)</a:t>
            </a:r>
            <a:endParaRPr lang="en-US" sz="12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2880360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25780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 preserves context</a:t>
            </a:r>
            <a:endParaRPr lang="en-US" sz="12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3291840"/>
            <a:ext cx="201168" cy="20116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257800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scanned + multilingual docs</a:t>
            </a:r>
            <a:endParaRPr lang="en-US" sz="12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3703320"/>
            <a:ext cx="201168" cy="20116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257800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sales linkage + scoring</a:t>
            </a:r>
            <a:endParaRPr lang="en-US" sz="1200" dirty="0"/>
          </a:p>
        </p:txBody>
      </p:sp>
      <p:sp>
        <p:nvSpPr>
          <p:cNvPr id="34" name="Shape 20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0F2F1"/>
          </a:solidFill>
          <a:ln/>
        </p:spPr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4663440"/>
            <a:ext cx="228600" cy="22860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960120" y="46360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Real estate documents need domain-specific parsing, not generic text extraction.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PROCESSING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PDF to searchable, structured knowledge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0116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37160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2331720"/>
            <a:ext cx="1737360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834640"/>
            <a:ext cx="1737360" cy="1371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803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 for scanned docs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field extraction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Layout-aware parsing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560320"/>
            <a:ext cx="164592" cy="16459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2487168" y="118872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87168" y="1188720"/>
            <a:ext cx="201168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Shape 14"/>
          <p:cNvSpPr/>
          <p:nvPr/>
        </p:nvSpPr>
        <p:spPr>
          <a:xfrm>
            <a:off x="3218688" y="1371600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8" name="Text 15"/>
          <p:cNvSpPr/>
          <p:nvPr/>
        </p:nvSpPr>
        <p:spPr>
          <a:xfrm>
            <a:off x="3218688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578608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2624328" y="2331720"/>
            <a:ext cx="1737360" cy="3200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1" name="Text 18"/>
          <p:cNvSpPr/>
          <p:nvPr/>
        </p:nvSpPr>
        <p:spPr>
          <a:xfrm>
            <a:off x="2624328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Classifier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624328" y="2834640"/>
            <a:ext cx="1737360" cy="1371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3" name="Text 20"/>
          <p:cNvSpPr/>
          <p:nvPr/>
        </p:nvSpPr>
        <p:spPr>
          <a:xfrm>
            <a:off x="2715768" y="28803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APPRAISAL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COMPARABLE_SALES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MARKET_ANALYSIS</a:t>
            </a:r>
            <a:endParaRPr lang="en-US" sz="10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560320"/>
            <a:ext cx="164592" cy="16459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700016" y="118872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700016" y="1188720"/>
            <a:ext cx="201168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Shape 23"/>
          <p:cNvSpPr/>
          <p:nvPr/>
        </p:nvSpPr>
        <p:spPr>
          <a:xfrm>
            <a:off x="5431536" y="137160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4"/>
          <p:cNvSpPr/>
          <p:nvPr/>
        </p:nvSpPr>
        <p:spPr>
          <a:xfrm>
            <a:off x="5431536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4791456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4837176" y="2331720"/>
            <a:ext cx="1737360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1" name="Text 27"/>
          <p:cNvSpPr/>
          <p:nvPr/>
        </p:nvSpPr>
        <p:spPr>
          <a:xfrm>
            <a:off x="4837176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Type-Specific Parsers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837176" y="2834640"/>
            <a:ext cx="1737360" cy="1371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3" name="Text 29"/>
          <p:cNvSpPr/>
          <p:nvPr/>
        </p:nvSpPr>
        <p:spPr>
          <a:xfrm>
            <a:off x="4928616" y="28803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bedrooms, price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Neighborhood, sq ft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 sales tables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trend data</a:t>
            </a:r>
            <a:endParaRPr lang="en-US" sz="10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6" y="2560320"/>
            <a:ext cx="164592" cy="164592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6912864" y="118872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912864" y="1188720"/>
            <a:ext cx="2011680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7" name="Shape 32"/>
          <p:cNvSpPr/>
          <p:nvPr/>
        </p:nvSpPr>
        <p:spPr>
          <a:xfrm>
            <a:off x="7644384" y="1371600"/>
            <a:ext cx="457200" cy="45720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38" name="Text 33"/>
          <p:cNvSpPr/>
          <p:nvPr/>
        </p:nvSpPr>
        <p:spPr>
          <a:xfrm>
            <a:off x="7644384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7004304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+ Embed</a:t>
            </a:r>
            <a:endParaRPr lang="en-US" sz="1500" dirty="0"/>
          </a:p>
        </p:txBody>
      </p:sp>
      <p:sp>
        <p:nvSpPr>
          <p:cNvPr id="40" name="Shape 35"/>
          <p:cNvSpPr/>
          <p:nvPr/>
        </p:nvSpPr>
        <p:spPr>
          <a:xfrm>
            <a:off x="7050024" y="2331720"/>
            <a:ext cx="1737360" cy="3200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1" name="Text 36"/>
          <p:cNvSpPr/>
          <p:nvPr/>
        </p:nvSpPr>
        <p:spPr>
          <a:xfrm>
            <a:off x="7050024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Embeddings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7050024" y="2834640"/>
            <a:ext cx="1737360" cy="1371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3" name="Text 38"/>
          <p:cNvSpPr/>
          <p:nvPr/>
        </p:nvSpPr>
        <p:spPr>
          <a:xfrm>
            <a:off x="7141464" y="28803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chunking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Metadata-enriched chunks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text-embedding-004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768-dim vectors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5" name="Text 40"/>
          <p:cNvSpPr/>
          <p:nvPr/>
        </p:nvSpPr>
        <p:spPr>
          <a:xfrm>
            <a:off x="640080" y="46360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 type gets its own parser — preserving tables, extracting numeric fields, and linking comparable sales.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GCP SOLUTION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325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1325880" cy="54864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Documents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28600" y="21945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Appraisals, Listings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Reports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92" y="1828800"/>
            <a:ext cx="137160" cy="137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64208" y="1005840"/>
            <a:ext cx="1325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664208" y="1005840"/>
            <a:ext cx="1325880" cy="54864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1188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09928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709928" y="21945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Table Detection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 Extraction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1828800"/>
            <a:ext cx="137160" cy="1371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145536" y="1005840"/>
            <a:ext cx="1325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3145536" y="1005840"/>
            <a:ext cx="1325880" cy="54864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118872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91256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Parsers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3191256" y="21945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Type-Specific Parsing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Extraction</a:t>
            </a:r>
            <a:endParaRPr lang="en-US" sz="8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1828800"/>
            <a:ext cx="137160" cy="13716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4626864" y="1005840"/>
            <a:ext cx="1325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4626864" y="1005840"/>
            <a:ext cx="1325880" cy="54864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4064" y="1188720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672584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4672584" y="21945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text-embedding-004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Dimensions</a:t>
            </a:r>
            <a:endParaRPr lang="en-US" sz="8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0176" y="1828800"/>
            <a:ext cx="137160" cy="13716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6108192" y="1005840"/>
            <a:ext cx="1325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6108192" y="1005840"/>
            <a:ext cx="1325880" cy="54864"/>
          </a:xfrm>
          <a:prstGeom prst="rect">
            <a:avLst/>
          </a:prstGeom>
          <a:solidFill>
            <a:srgbClr val="FF6F00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5392" y="1188720"/>
            <a:ext cx="365760" cy="36576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153912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000" dirty="0"/>
          </a:p>
        </p:txBody>
      </p:sp>
      <p:sp>
        <p:nvSpPr>
          <p:cNvPr id="32" name="Text 21"/>
          <p:cNvSpPr/>
          <p:nvPr/>
        </p:nvSpPr>
        <p:spPr>
          <a:xfrm>
            <a:off x="6153912" y="21945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8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1504" y="1828800"/>
            <a:ext cx="137160" cy="13716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7589520" y="1005840"/>
            <a:ext cx="1325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3"/>
          <p:cNvSpPr/>
          <p:nvPr/>
        </p:nvSpPr>
        <p:spPr>
          <a:xfrm>
            <a:off x="7589520" y="1005840"/>
            <a:ext cx="1325880" cy="54864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6720" y="1188720"/>
            <a:ext cx="365760" cy="36576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763524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1000" dirty="0"/>
          </a:p>
        </p:txBody>
      </p:sp>
      <p:sp>
        <p:nvSpPr>
          <p:cNvPr id="38" name="Text 25"/>
          <p:cNvSpPr/>
          <p:nvPr/>
        </p:nvSpPr>
        <p:spPr>
          <a:xfrm>
            <a:off x="7635240" y="21945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850" dirty="0"/>
          </a:p>
        </p:txBody>
      </p:sp>
      <p:sp>
        <p:nvSpPr>
          <p:cNvPr id="39" name="Shape 26"/>
          <p:cNvSpPr/>
          <p:nvPr/>
        </p:nvSpPr>
        <p:spPr>
          <a:xfrm>
            <a:off x="457200" y="3383280"/>
            <a:ext cx="82296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0" name="Text 27"/>
          <p:cNvSpPr/>
          <p:nvPr/>
        </p:nvSpPr>
        <p:spPr>
          <a:xfrm>
            <a:off x="54864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SERVICES USED</a:t>
            </a:r>
            <a:endParaRPr lang="en-US" sz="1200" dirty="0"/>
          </a:p>
        </p:txBody>
      </p:sp>
      <p:sp>
        <p:nvSpPr>
          <p:cNvPr id="41" name="Shape 28"/>
          <p:cNvSpPr/>
          <p:nvPr/>
        </p:nvSpPr>
        <p:spPr>
          <a:xfrm>
            <a:off x="137160" y="4023360"/>
            <a:ext cx="1353312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2" name="Shape 29"/>
          <p:cNvSpPr/>
          <p:nvPr/>
        </p:nvSpPr>
        <p:spPr>
          <a:xfrm>
            <a:off x="137160" y="4023360"/>
            <a:ext cx="1353312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3" name="Text 30"/>
          <p:cNvSpPr/>
          <p:nvPr/>
        </p:nvSpPr>
        <p:spPr>
          <a:xfrm>
            <a:off x="182880" y="41148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000" dirty="0"/>
          </a:p>
        </p:txBody>
      </p:sp>
      <p:sp>
        <p:nvSpPr>
          <p:cNvPr id="44" name="Text 31"/>
          <p:cNvSpPr/>
          <p:nvPr/>
        </p:nvSpPr>
        <p:spPr>
          <a:xfrm>
            <a:off x="182880" y="4389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hosting</a:t>
            </a:r>
            <a:endParaRPr lang="en-US" sz="800" dirty="0"/>
          </a:p>
        </p:txBody>
      </p:sp>
      <p:sp>
        <p:nvSpPr>
          <p:cNvPr id="45" name="Shape 32"/>
          <p:cNvSpPr/>
          <p:nvPr/>
        </p:nvSpPr>
        <p:spPr>
          <a:xfrm>
            <a:off x="1618488" y="4023360"/>
            <a:ext cx="1353312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3"/>
          <p:cNvSpPr/>
          <p:nvPr/>
        </p:nvSpPr>
        <p:spPr>
          <a:xfrm>
            <a:off x="1618488" y="4023360"/>
            <a:ext cx="1353312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7" name="Text 34"/>
          <p:cNvSpPr/>
          <p:nvPr/>
        </p:nvSpPr>
        <p:spPr>
          <a:xfrm>
            <a:off x="1664208" y="41148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</a:t>
            </a:r>
            <a:endParaRPr lang="en-US" sz="1000" dirty="0"/>
          </a:p>
        </p:txBody>
      </p:sp>
      <p:sp>
        <p:nvSpPr>
          <p:cNvPr id="48" name="Text 35"/>
          <p:cNvSpPr/>
          <p:nvPr/>
        </p:nvSpPr>
        <p:spPr>
          <a:xfrm>
            <a:off x="1664208" y="4389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table extraction</a:t>
            </a:r>
            <a:endParaRPr lang="en-US" sz="800" dirty="0"/>
          </a:p>
        </p:txBody>
      </p:sp>
      <p:sp>
        <p:nvSpPr>
          <p:cNvPr id="49" name="Shape 36"/>
          <p:cNvSpPr/>
          <p:nvPr/>
        </p:nvSpPr>
        <p:spPr>
          <a:xfrm>
            <a:off x="3099816" y="4023360"/>
            <a:ext cx="1353312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0" name="Shape 37"/>
          <p:cNvSpPr/>
          <p:nvPr/>
        </p:nvSpPr>
        <p:spPr>
          <a:xfrm>
            <a:off x="3099816" y="4023360"/>
            <a:ext cx="1353312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1" name="Text 38"/>
          <p:cNvSpPr/>
          <p:nvPr/>
        </p:nvSpPr>
        <p:spPr>
          <a:xfrm>
            <a:off x="3145536" y="41148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000" dirty="0"/>
          </a:p>
        </p:txBody>
      </p:sp>
      <p:sp>
        <p:nvSpPr>
          <p:cNvPr id="52" name="Text 39"/>
          <p:cNvSpPr/>
          <p:nvPr/>
        </p:nvSpPr>
        <p:spPr>
          <a:xfrm>
            <a:off x="3145536" y="4389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Gemini</a:t>
            </a:r>
            <a:endParaRPr lang="en-US" sz="800" dirty="0"/>
          </a:p>
        </p:txBody>
      </p:sp>
      <p:sp>
        <p:nvSpPr>
          <p:cNvPr id="53" name="Shape 40"/>
          <p:cNvSpPr/>
          <p:nvPr/>
        </p:nvSpPr>
        <p:spPr>
          <a:xfrm>
            <a:off x="4581144" y="4023360"/>
            <a:ext cx="1353312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4" name="Shape 41"/>
          <p:cNvSpPr/>
          <p:nvPr/>
        </p:nvSpPr>
        <p:spPr>
          <a:xfrm>
            <a:off x="4581144" y="4023360"/>
            <a:ext cx="1353312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5" name="Text 42"/>
          <p:cNvSpPr/>
          <p:nvPr/>
        </p:nvSpPr>
        <p:spPr>
          <a:xfrm>
            <a:off x="4626864" y="41148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000" dirty="0"/>
          </a:p>
        </p:txBody>
      </p:sp>
      <p:sp>
        <p:nvSpPr>
          <p:cNvPr id="56" name="Text 43"/>
          <p:cNvSpPr/>
          <p:nvPr/>
        </p:nvSpPr>
        <p:spPr>
          <a:xfrm>
            <a:off x="4626864" y="4389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+ metadata</a:t>
            </a:r>
            <a:endParaRPr lang="en-US" sz="800" dirty="0"/>
          </a:p>
        </p:txBody>
      </p:sp>
      <p:sp>
        <p:nvSpPr>
          <p:cNvPr id="57" name="Shape 44"/>
          <p:cNvSpPr/>
          <p:nvPr/>
        </p:nvSpPr>
        <p:spPr>
          <a:xfrm>
            <a:off x="6062472" y="4023360"/>
            <a:ext cx="1353312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8" name="Shape 45"/>
          <p:cNvSpPr/>
          <p:nvPr/>
        </p:nvSpPr>
        <p:spPr>
          <a:xfrm>
            <a:off x="6062472" y="4023360"/>
            <a:ext cx="1353312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9" name="Text 46"/>
          <p:cNvSpPr/>
          <p:nvPr/>
        </p:nvSpPr>
        <p:spPr>
          <a:xfrm>
            <a:off x="6108192" y="41148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</a:t>
            </a:r>
            <a:endParaRPr lang="en-US" sz="1000" dirty="0"/>
          </a:p>
        </p:txBody>
      </p:sp>
      <p:sp>
        <p:nvSpPr>
          <p:cNvPr id="60" name="Text 47"/>
          <p:cNvSpPr/>
          <p:nvPr/>
        </p:nvSpPr>
        <p:spPr>
          <a:xfrm>
            <a:off x="6108192" y="4389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images</a:t>
            </a:r>
            <a:endParaRPr lang="en-US" sz="800" dirty="0"/>
          </a:p>
        </p:txBody>
      </p:sp>
      <p:sp>
        <p:nvSpPr>
          <p:cNvPr id="61" name="Shape 48"/>
          <p:cNvSpPr/>
          <p:nvPr/>
        </p:nvSpPr>
        <p:spPr>
          <a:xfrm>
            <a:off x="7543800" y="4023360"/>
            <a:ext cx="1353312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2" name="Shape 49"/>
          <p:cNvSpPr/>
          <p:nvPr/>
        </p:nvSpPr>
        <p:spPr>
          <a:xfrm>
            <a:off x="7543800" y="4023360"/>
            <a:ext cx="1353312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3" name="Text 50"/>
          <p:cNvSpPr/>
          <p:nvPr/>
        </p:nvSpPr>
        <p:spPr>
          <a:xfrm>
            <a:off x="7589520" y="41148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</a:t>
            </a:r>
            <a:endParaRPr lang="en-US" sz="1000" dirty="0"/>
          </a:p>
        </p:txBody>
      </p:sp>
      <p:sp>
        <p:nvSpPr>
          <p:cNvPr id="64" name="Text 51"/>
          <p:cNvSpPr/>
          <p:nvPr/>
        </p:nvSpPr>
        <p:spPr>
          <a:xfrm>
            <a:off x="7589520" y="4389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HYBRID SEARCH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Query: "3-bedroom homes in Downtown Austin under $600K"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554480"/>
            <a:ext cx="502920" cy="50292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structured filters from natural language query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108960"/>
            <a:ext cx="2423160" cy="10515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546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bedrooms = 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neighborhood = Downtown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max_price = 600000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2697480"/>
            <a:ext cx="182880" cy="182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200400" y="141732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51960" y="155448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2"/>
          <p:cNvSpPr/>
          <p:nvPr/>
        </p:nvSpPr>
        <p:spPr>
          <a:xfrm>
            <a:off x="425196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37560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37560" y="2560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search on remaining documents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37560" y="3108960"/>
            <a:ext cx="2423160" cy="10515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Text 16"/>
          <p:cNvSpPr/>
          <p:nvPr/>
        </p:nvSpPr>
        <p:spPr>
          <a:xfrm>
            <a:off x="3429000" y="31546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Vertex AI text-embedding-004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→ 768-dim vector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top-K nearest neighbors</a:t>
            </a:r>
            <a:endParaRPr lang="en-US" sz="9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97480"/>
            <a:ext cx="182880" cy="1828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126480" y="141732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178040" y="1554480"/>
            <a:ext cx="502920" cy="50292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3" name="Text 19"/>
          <p:cNvSpPr/>
          <p:nvPr/>
        </p:nvSpPr>
        <p:spPr>
          <a:xfrm>
            <a:off x="717804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6263640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+ LLM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263640" y="2560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fusion and grounded answer generation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263640" y="3108960"/>
            <a:ext cx="2423160" cy="10515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Text 23"/>
          <p:cNvSpPr/>
          <p:nvPr/>
        </p:nvSpPr>
        <p:spPr>
          <a:xfrm>
            <a:off x="6355080" y="31546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 metadata + vector score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2.0 Flash generates answer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citations included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9" name="Text 25"/>
          <p:cNvSpPr/>
          <p:nvPr/>
        </p:nvSpPr>
        <p:spPr>
          <a:xfrm>
            <a:off x="640080" y="46360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hybrid approach outperforms pure vector search by 40%+ on structured property queries.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WALKTHROUGH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758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keyboard — real code from the project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4160520" cy="37490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43000"/>
            <a:ext cx="4160520" cy="32004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1161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search.py — Query Filter Extraction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1554480"/>
            <a:ext cx="39319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extract_query_filters(query):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filters = QueryFilters()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 = query.lower()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Bedroom count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bed = re.search(r"(\d+)\s*bed", q)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bed: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filters.bedrooms = int(bed.group(1))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Price ceiling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 = re.search(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r"under\s*\$?([\d,]+)k?", q)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price: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= int(price.group(1)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.replace(",",""))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filters.max_price = val * 1000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Comparison detection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_is_comparison_query(q):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filters.neighborhoods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_extract_neighborhoods(q)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filters.is_comparison = True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709160" y="1143000"/>
            <a:ext cx="4160520" cy="37490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143000"/>
            <a:ext cx="4160520" cy="32004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161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firestore_vector_store.py — Vector Search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00600" y="1554480"/>
            <a:ext cx="39319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search(self, query_embedding,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top_k=5, where=None):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 = self._collection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Apply metadata pre-filters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where: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 = self._apply_where(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query, where)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Firestore native vector search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results = query.find_nearest(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vector_field="embedding",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query_vector=Vector(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query_embedding),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distance_measure=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DistanceMeasure.COSINE,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limit=top_k,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distance_result_field=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"vector_distance",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self._format_results(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ARCHITECTURAL TRADE-OFFS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841248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987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Vector Search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2618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Vertex AI Vector Search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051560"/>
            <a:ext cx="0" cy="54864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100584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cold-start (no index build or endpoint deploy). Works with runtime-ingest pattern. No ongoing endpoint costs ($0.35/hr min).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1901952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1901952"/>
            <a:ext cx="54864" cy="841248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3055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1975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51560" y="22494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Gemini Pro / GPT-4o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0" y="2039112"/>
            <a:ext cx="0" cy="54864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83280" y="19933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latency for grounded Q&amp;A. 90% cheaper than Pro. Sufficient reasoning when answers are anchored to retrieved context.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" y="2889504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2889504"/>
            <a:ext cx="54864" cy="841248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18104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29626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051560" y="32369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LangChain / LlamaIndex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200400" y="3026664"/>
            <a:ext cx="0" cy="54864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383280" y="298094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PDF parsing per document type. Metadata extraction for hybrid search. No framework lock-in or hidden abstractions.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65760" y="3877056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65760" y="3877056"/>
            <a:ext cx="54864" cy="841248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105656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51560" y="3950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051560" y="42245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Pure Vector Search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200400" y="4014216"/>
            <a:ext cx="0" cy="54864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383280" y="3968496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queries need exact metadata filters. "3-bed under $500K" can't be solved by embeddings alone. Reranking fuses both signals.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E0F2F1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09160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68680" y="468172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optimizes for: fast cold start, low cost at demo scale, and production upgrade path.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Valuation RAG Chatbot on Google Cloud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33375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the estimated value of 742 Evergreen Terrace?"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97280" y="37216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"3-bedroom homes in Downtown Austin under $600K?"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97280" y="410565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"Compare East Austin vs South Lamar market trends"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97280" y="448970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the value at 999 Nonexistent Street, Miami?"   (tests grounding)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0897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 PREVENTION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758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defense against fabricated answers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43000"/>
            <a:ext cx="2697480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8" name="Shape 5"/>
          <p:cNvSpPr/>
          <p:nvPr/>
        </p:nvSpPr>
        <p:spPr>
          <a:xfrm>
            <a:off x="1280160" y="1325880"/>
            <a:ext cx="457200" cy="45720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9" name="Text 6"/>
          <p:cNvSpPr/>
          <p:nvPr/>
        </p:nvSpPr>
        <p:spPr>
          <a:xfrm>
            <a:off x="128016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3716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Threshold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11480" y="2194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documents score above the similarity threshold, return "insufficient data" instead of guessing.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11480" y="2926080"/>
            <a:ext cx="2423160" cy="14173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297180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r.score &gt;= SIMILARITY_THRESHOLD: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results.append(r)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 don't have sufficient data"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200400" y="114300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0" y="1143000"/>
            <a:ext cx="26974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Shape 13"/>
          <p:cNvSpPr/>
          <p:nvPr/>
        </p:nvSpPr>
        <p:spPr>
          <a:xfrm>
            <a:off x="4206240" y="132588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4"/>
          <p:cNvSpPr/>
          <p:nvPr/>
        </p:nvSpPr>
        <p:spPr>
          <a:xfrm>
            <a:off x="420624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7160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3756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337560" y="2194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instructs Gemini to ONLY use provided context. Never invent facts beyond retrieved documents.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337560" y="2926080"/>
            <a:ext cx="2423160" cy="14173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3" name="Text 18"/>
          <p:cNvSpPr/>
          <p:nvPr/>
        </p:nvSpPr>
        <p:spPr>
          <a:xfrm>
            <a:off x="3429000" y="297180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"Answer ONLY from the context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provided. If the answer is not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documents, say so.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Cite [Source: filename] for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claim."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6126480" y="114300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126480" y="1143000"/>
            <a:ext cx="269748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6" name="Shape 21"/>
          <p:cNvSpPr/>
          <p:nvPr/>
        </p:nvSpPr>
        <p:spPr>
          <a:xfrm>
            <a:off x="7132320" y="1325880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7" name="Text 22"/>
          <p:cNvSpPr/>
          <p:nvPr/>
        </p:nvSpPr>
        <p:spPr>
          <a:xfrm>
            <a:off x="713232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37160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6364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Verification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263640" y="2194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Post-generation check: every dollar amount in the answer must exist in retrieved documents. Flags suspicious values.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263640" y="2926080"/>
            <a:ext cx="2423160" cy="14173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2" name="Text 26"/>
          <p:cNvSpPr/>
          <p:nvPr/>
        </p:nvSpPr>
        <p:spPr>
          <a:xfrm>
            <a:off x="6355080" y="297180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answer_nums = extract_$(answer)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context_nums = extract_$(docs)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unsupported = answer_nums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- context_nums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unsupported: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9D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logger.warning("Hallucinated!")</a:t>
            </a:r>
            <a:endParaRPr lang="en-US" sz="750" dirty="0"/>
          </a:p>
        </p:txBody>
      </p:sp>
      <p:sp>
        <p:nvSpPr>
          <p:cNvPr id="33" name="Shape 2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4" name="Text 28"/>
          <p:cNvSpPr/>
          <p:nvPr/>
        </p:nvSpPr>
        <p:spPr>
          <a:xfrm>
            <a:off x="640080" y="46817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query: "999 Nonexistent Street" triggers Layer 1 — zero hallucinated results.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920240" cy="5486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10x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Valuations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minutes per property report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05840"/>
            <a:ext cx="192024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188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60604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structure preserved from PDFs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05840"/>
            <a:ext cx="192024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88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75488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with source citations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0058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005840"/>
            <a:ext cx="19202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188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90372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Services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managed, enterprise-grade stack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91840"/>
            <a:ext cx="73152" cy="13716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Customer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37033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property valuations from their own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auditable reports with source citations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scanned docs, forms, multilingual content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2918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291840"/>
            <a:ext cx="73152" cy="13716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Google Cloud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0" y="37033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adoption (7 GCP products)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Vertex AI + Gemini API consumption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to other verticals (insurance, legal, medical)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713232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704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78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Vector Search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Firestore to managed billion-scale vector search for production workloads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8229600" cy="713232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874520"/>
            <a:ext cx="54864" cy="713232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3911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1947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+ Firestore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88720" y="2240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document storage and real-time sync across distributed teams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743200"/>
            <a:ext cx="8229600" cy="713232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15" name="Shape 11"/>
          <p:cNvSpPr/>
          <p:nvPr/>
        </p:nvSpPr>
        <p:spPr>
          <a:xfrm>
            <a:off x="457200" y="2743200"/>
            <a:ext cx="54864" cy="713232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0779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816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Grounding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8872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valuations with live Google Search market data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611880"/>
            <a:ext cx="8229600" cy="713232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20" name="Shape 15"/>
          <p:cNvSpPr/>
          <p:nvPr/>
        </p:nvSpPr>
        <p:spPr>
          <a:xfrm>
            <a:off x="457200" y="3611880"/>
            <a:ext cx="54864" cy="713232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7647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685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data isolation with Google Cloud IAM and VPC Service Controls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743200" y="4572000"/>
            <a:ext cx="3657600" cy="0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Property Valuation RAG Chatbot - Google Cloud AI Solution</dc:title>
  <dc:subject>PptxGenJS Presentation</dc:subject>
  <dc:creator>Ganesh Krishna</dc:creator>
  <cp:lastModifiedBy>Ganesh Krishna</cp:lastModifiedBy>
  <cp:revision>1</cp:revision>
  <dcterms:created xsi:type="dcterms:W3CDTF">2026-02-28T21:36:29Z</dcterms:created>
  <dcterms:modified xsi:type="dcterms:W3CDTF">2026-02-28T21:36:29Z</dcterms:modified>
</cp:coreProperties>
</file>